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 Medium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PfGJJrSx+M+R4CCiTs2/w7beF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Medium-regular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italic.fntdata"/><Relationship Id="rId6" Type="http://schemas.openxmlformats.org/officeDocument/2006/relationships/slide" Target="slides/slide1.xml"/><Relationship Id="rId18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fr-FR"/>
              <a:t>https://app.diagrams.net/?src=about#HSheikoh%2FREnergies_efficiency_prediction%2Fmain%2Fdiagrams%2Farchitecture.drawio#%7B%22pageId%22%3A%22bG0RTmb4xdSiPlx_l64v%22%7D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1. Collecte des données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météo OpenWeather (API)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satellite Landsat (USGS)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Historique RTE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solaires locales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2. Préparation &amp; nettoyage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Standardisation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Alignement temporel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Filtrage géographique Rhône-Alpes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Mise en qualité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3. Entraînement &amp; suivi du modèle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Entraînement local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Suivi via MLflow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Versionning dans Model Registry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4. API &amp; Application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Modèle servi via une API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Dashboard Streamlit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EDA + prévisions 3 jours accessibles à l’utilisateur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Axes de présentation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Comparaison évolution de la consommation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Pics de consommations (comportements similaires entre le national et le régional)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Mix énergétique : part de nucléaire au niveau national vs part des énergies renouvelables en AURA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Part des échanges : export et import au niveau national vs régional (AURA fortement exportatrice 🡪 cf. part de l’hydro électrique)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7c9cfe41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67c9cfe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Axes de présentation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Comparaison évolution de la consommation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Pics de consommations (comportements similaires entre le national et le régional)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Mix énergétique : part de nucléaire au niveau national vs part des énergies renouvelables en AURA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Part des échanges : export et import au niveau national vs régional (AURA fortement exportatrice 🡪 cf. part de l’hydro électrique)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Valeur immédiate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Visibilité sur 3 jours → meilleure planification.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Anticipation des pics et baisses → réseau plus stable, délestage de l’hydro électrique au profit du solaire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Lecture régionale fine → priorisation des investissements ??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Outil d’aide à la décision clair et exploitable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Perspectives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Passage en temps réel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Ajout de la prévision intra day (données de prod RTE disponibles à la demi heure)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Enrichissement par données satellitaires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1" name="Google Shape;91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github.com/Sheikoh/Project_Walmart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sheyko-mlflow-server-ft34.hf.space/#/experiments/5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735474" y="1889984"/>
            <a:ext cx="8097441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Walmart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735475" y="278604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1111"/>
              <a:buNone/>
            </a:pPr>
            <a: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Prévision des recettes hebdomadaires des magasins</a:t>
            </a:r>
            <a:endParaRPr sz="25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fr-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Contexte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311700" y="1095660"/>
            <a:ext cx="8520600" cy="1100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fr-FR" sz="1200"/>
              <a:t>Afin de mieux comprendre les fluctuations de leur chiffre d’affaire, Walmart souhaite modéliser leur chiffre d’affaire à partir de données économiques variées. </a:t>
            </a:r>
            <a:endParaRPr b="1" sz="1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fr-FR" sz="1200"/>
              <a:t>Cela leur permettrait de réaliser des campagnes marketing plus pertinentes.</a:t>
            </a:r>
            <a:endParaRPr b="1" sz="12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472458" y="4947196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7733615" y="270191"/>
            <a:ext cx="1098600" cy="333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7704792" y="313600"/>
            <a:ext cx="115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u="sng">
                <a:solidFill>
                  <a:schemeClr val="hlink"/>
                </a:solidFill>
                <a:hlinkClick r:id="rId4"/>
              </a:rPr>
              <a:t>Lien Github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7134931" y="440687"/>
            <a:ext cx="570000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5780711" y="936400"/>
            <a:ext cx="3117680" cy="347848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-FR" sz="800">
                <a:solidFill>
                  <a:schemeClr val="lt1"/>
                </a:solidFill>
              </a:rPr>
              <a:t>Réduction du surapprentissage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008182" y="936400"/>
            <a:ext cx="3117680" cy="347848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-FR" sz="800">
                <a:solidFill>
                  <a:schemeClr val="lt1"/>
                </a:solidFill>
              </a:rPr>
              <a:t>Entrainement d’une baseline</a:t>
            </a:r>
            <a:endParaRPr/>
          </a:p>
        </p:txBody>
      </p:sp>
      <p:sp>
        <p:nvSpPr>
          <p:cNvPr id="122" name="Google Shape;122;p6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Méthodologie du projet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252178" y="936400"/>
            <a:ext cx="3117680" cy="347848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-FR" sz="800">
                <a:solidFill>
                  <a:schemeClr val="lt1"/>
                </a:solidFill>
              </a:rPr>
              <a:t>Nettoyage des données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252175" y="1497114"/>
            <a:ext cx="2679900" cy="3341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Isolation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la variable cible et suppression des </a:t>
            </a:r>
            <a:r>
              <a:rPr lang="fr-FR" sz="1200"/>
              <a:t>lignes sans cible.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Création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fr-FR" sz="1200"/>
              <a:t>e colonnes explicitant le contenu de la colonne date (year, month, day, day of week).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Suppression</a:t>
            </a:r>
            <a:r>
              <a:rPr b="1" lang="fr-FR" sz="1200"/>
              <a:t>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 valeurs aberrantes  zones à fort potentiel solaire selon les données historiques et prévisionnelles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100937" y="1497114"/>
            <a:ext cx="2679900" cy="3341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Entraînement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fr-FR" sz="1200"/>
              <a:t>’un modèle de régression linéaire pour servir de référence.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Enregistrement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 entraînements sur </a:t>
            </a:r>
            <a:r>
              <a:rPr lang="fr-FR" sz="1200"/>
              <a:t>un serveur mlflow</a:t>
            </a:r>
            <a:endParaRPr sz="1200"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Identifier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les zones à fort potentiel solaire selon les données historiques et prévisionnelles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949700" y="1497114"/>
            <a:ext cx="2679900" cy="3341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Tests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lang="fr-FR" sz="1200"/>
              <a:t> modèles de régularisation (ridge et lasso).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Optimisation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lang="fr-FR" sz="1200"/>
              <a:t> l’hyperparamètre alpha des modèles testés via Optuna.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Enregistrement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 zones à fort potentiel solaire selon les données historiques et prévisionnelles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311700" y="1121646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35" name="Google Shape;135;p7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Tracking via mlflow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733615" y="270191"/>
            <a:ext cx="1098685" cy="33304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7704792" y="313600"/>
            <a:ext cx="11563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u="sng">
                <a:solidFill>
                  <a:schemeClr val="hlink"/>
                </a:solidFill>
                <a:hlinkClick r:id="rId4"/>
              </a:rPr>
              <a:t>Lien MLFlow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7"/>
          <p:cNvCxnSpPr/>
          <p:nvPr/>
        </p:nvCxnSpPr>
        <p:spPr>
          <a:xfrm>
            <a:off x="7134931" y="440687"/>
            <a:ext cx="569861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7"/>
          <p:cNvSpPr txBox="1"/>
          <p:nvPr/>
        </p:nvSpPr>
        <p:spPr>
          <a:xfrm>
            <a:off x="4675756" y="2883192"/>
            <a:ext cx="3233278" cy="228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-FR" sz="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Pics de consommation par jour et heure – Rhône-Alpes  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11699" y="2882202"/>
            <a:ext cx="3233278" cy="228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-FR" sz="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Pics de consommation par jour et heure – France  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11699" y="4717038"/>
            <a:ext cx="3233278" cy="1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4891125" y="4717038"/>
            <a:ext cx="3233278" cy="1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5" name="Google Shape;145;p7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950" y="1277000"/>
            <a:ext cx="2512251" cy="163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2200" y="1962034"/>
            <a:ext cx="6258948" cy="270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67c9cfe41_0_9"/>
          <p:cNvSpPr txBox="1"/>
          <p:nvPr>
            <p:ph idx="1" type="body"/>
          </p:nvPr>
        </p:nvSpPr>
        <p:spPr>
          <a:xfrm>
            <a:off x="311700" y="1121646"/>
            <a:ext cx="8520600" cy="3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53" name="Google Shape;153;g3d67c9cfe41_0_9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Comparaison des modèles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54" name="Google Shape;154;g3d67c9cfe41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67c9cfe41_0_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d67c9cfe41_0_9"/>
          <p:cNvSpPr txBox="1"/>
          <p:nvPr/>
        </p:nvSpPr>
        <p:spPr>
          <a:xfrm>
            <a:off x="3220625" y="784800"/>
            <a:ext cx="25959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-FR" sz="11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Lasso vs Ridge</a:t>
            </a:r>
            <a:endParaRPr b="1" i="0" sz="11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57" name="Google Shape;157;g3d67c9cfe41_0_9"/>
          <p:cNvCxnSpPr/>
          <p:nvPr/>
        </p:nvCxnSpPr>
        <p:spPr>
          <a:xfrm>
            <a:off x="4468243" y="1216963"/>
            <a:ext cx="0" cy="360210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" name="Google Shape;158;g3d67c9cfe41_0_9"/>
          <p:cNvSpPr txBox="1"/>
          <p:nvPr/>
        </p:nvSpPr>
        <p:spPr>
          <a:xfrm>
            <a:off x="249947" y="992387"/>
            <a:ext cx="196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-FR" sz="8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Lasso : rmse 123 712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9" name="Google Shape;159;g3d67c9cfe41_0_9"/>
          <p:cNvSpPr txBox="1"/>
          <p:nvPr/>
        </p:nvSpPr>
        <p:spPr>
          <a:xfrm>
            <a:off x="4622680" y="992387"/>
            <a:ext cx="251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-FR" sz="8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Ridge : rmse 142 976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0" name="Google Shape;160;g3d67c9cfe41_0_9"/>
          <p:cNvSpPr txBox="1"/>
          <p:nvPr/>
        </p:nvSpPr>
        <p:spPr>
          <a:xfrm>
            <a:off x="311699" y="4717038"/>
            <a:ext cx="32334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1" name="Google Shape;161;g3d67c9cfe41_0_9"/>
          <p:cNvSpPr txBox="1"/>
          <p:nvPr/>
        </p:nvSpPr>
        <p:spPr>
          <a:xfrm>
            <a:off x="4891125" y="4717038"/>
            <a:ext cx="32334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2" name="Google Shape;162;g3d67c9cfe41_0_9"/>
          <p:cNvSpPr txBox="1"/>
          <p:nvPr>
            <p:ph idx="12" type="sldNum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63" name="Google Shape;163;g3d67c9cfe41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678" y="1219919"/>
            <a:ext cx="2827446" cy="1854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d67c9cfe41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858" y="1241074"/>
            <a:ext cx="2744677" cy="1824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d67c9cfe41_0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025" y="3011575"/>
            <a:ext cx="2680199" cy="177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d67c9cfe41_0_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7250" y="3077775"/>
            <a:ext cx="2744675" cy="1824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/>
          <p:nvPr/>
        </p:nvSpPr>
        <p:spPr>
          <a:xfrm>
            <a:off x="654529" y="1349809"/>
            <a:ext cx="300778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Régression linéaire</a:t>
            </a: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fr-FR" sz="1200"/>
              <a:t>très mauvaise, loin de la cible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Lasso vs Ridge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fr-FR" sz="1200"/>
              <a:t>Différence marginale (20k delta sur une RMSE de 120-140k)</a:t>
            </a:r>
            <a:endParaRPr sz="1200"/>
          </a:p>
          <a:p>
            <a:pPr indent="-3048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</a:pPr>
            <a:r>
              <a:rPr lang="fr-FR" sz="1200"/>
              <a:t>Différence concentrée sur 2 points</a:t>
            </a:r>
            <a:endParaRPr sz="1200"/>
          </a:p>
          <a:p>
            <a:pPr indent="-3048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</a:pPr>
            <a:r>
              <a:rPr lang="fr-FR" sz="1200"/>
              <a:t>RMSE d’environ 10% de la valeur prédite</a:t>
            </a:r>
            <a:endParaRPr sz="1200"/>
          </a:p>
          <a:p>
            <a:pPr indent="-2095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912911" y="1349809"/>
            <a:ext cx="376771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Changement de modèle de production automatique </a:t>
            </a:r>
            <a:r>
              <a:rPr lang="fr-FR" sz="1200"/>
              <a:t>via un changement d’alias des modèles. </a:t>
            </a:r>
            <a:endParaRPr sz="1200"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Étude de la pertinence</a:t>
            </a: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200"/>
              <a:t>de la RMSE vs MAE. 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463375" y="1061359"/>
            <a:ext cx="576900" cy="576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60004" y="1144627"/>
            <a:ext cx="375496" cy="3777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2"/>
          <p:cNvGrpSpPr/>
          <p:nvPr/>
        </p:nvGrpSpPr>
        <p:grpSpPr>
          <a:xfrm>
            <a:off x="4647650" y="1061359"/>
            <a:ext cx="1522339" cy="576900"/>
            <a:chOff x="4647650" y="1061359"/>
            <a:chExt cx="1522339" cy="576900"/>
          </a:xfrm>
        </p:grpSpPr>
        <p:sp>
          <p:nvSpPr>
            <p:cNvPr id="179" name="Google Shape;179;p12"/>
            <p:cNvSpPr/>
            <p:nvPr/>
          </p:nvSpPr>
          <p:spPr>
            <a:xfrm>
              <a:off x="4647650" y="1061359"/>
              <a:ext cx="576900" cy="5769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2"/>
            <p:cNvSpPr txBox="1"/>
            <p:nvPr/>
          </p:nvSpPr>
          <p:spPr>
            <a:xfrm>
              <a:off x="4647650" y="1134365"/>
              <a:ext cx="152233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What’s</a:t>
              </a:r>
              <a:endParaRPr b="1" i="0" sz="10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next ?</a:t>
              </a:r>
              <a:endParaRPr/>
            </a:p>
          </p:txBody>
        </p:sp>
      </p:grpSp>
      <p:sp>
        <p:nvSpPr>
          <p:cNvPr id="181" name="Google Shape;181;p12"/>
          <p:cNvSpPr/>
          <p:nvPr/>
        </p:nvSpPr>
        <p:spPr>
          <a:xfrm>
            <a:off x="3756838" y="2568491"/>
            <a:ext cx="1120200" cy="59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Amélioration du modèle</a:t>
            </a:r>
            <a:endParaRPr/>
          </a:p>
        </p:txBody>
      </p:sp>
      <p:sp>
        <p:nvSpPr>
          <p:cNvPr id="182" name="Google Shape;182;p12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b="0"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1799442" y="3228155"/>
            <a:ext cx="1485799" cy="545226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1799442" y="3300713"/>
            <a:ext cx="14857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Ressources projet en annexes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4"/>
          <p:cNvCxnSpPr/>
          <p:nvPr/>
        </p:nvCxnSpPr>
        <p:spPr>
          <a:xfrm>
            <a:off x="1200757" y="3500768"/>
            <a:ext cx="569861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</cp:coreProperties>
</file>